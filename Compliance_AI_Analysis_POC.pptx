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98952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280160"/>
            <a:ext cx="2834640" cy="393192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8-Point Star 6"/>
          <p:cNvSpPr/>
          <p:nvPr/>
        </p:nvSpPr>
        <p:spPr>
          <a:xfrm>
            <a:off x="9144000" y="2103120"/>
            <a:ext cx="1005840" cy="1005840"/>
          </a:xfrm>
          <a:prstGeom prst="star8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2103120"/>
            <a:ext cx="100584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46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✳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914400" cy="457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685800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600" b="1" i="0">
                <a:solidFill>
                  <a:srgbClr val="1B2A3D"/>
                </a:solidFill>
                <a:latin typeface="Calibri Light"/>
              </a:rPr>
              <a:t>COMPLIANCE AI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658368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2200" b="0" i="0">
                <a:solidFill>
                  <a:srgbClr val="11567F"/>
                </a:solidFill>
                <a:latin typeface="Segoe UI"/>
              </a:rPr>
              <a:t>Multi-Regulation Gap Analysis with Snowflake Cortex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4960"/>
            <a:ext cx="2560320" cy="4572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POC Deliverable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AGENDA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371600"/>
            <a:ext cx="10911535" cy="5943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444752"/>
            <a:ext cx="420624" cy="420624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44752"/>
            <a:ext cx="420624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399032"/>
            <a:ext cx="9601200" cy="6309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Background &amp; Problem Statement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10911535" cy="5943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130552"/>
            <a:ext cx="420624" cy="420624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30552"/>
            <a:ext cx="420624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084832"/>
            <a:ext cx="9601200" cy="6309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POC Objectives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43200"/>
            <a:ext cx="10911535" cy="5943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816352"/>
            <a:ext cx="420624" cy="420624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816352"/>
            <a:ext cx="420624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770632"/>
            <a:ext cx="9601200" cy="6309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How Snowflake Solves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29000"/>
            <a:ext cx="10911535" cy="5943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3502152"/>
            <a:ext cx="420624" cy="420624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502152"/>
            <a:ext cx="420624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456432"/>
            <a:ext cx="9601200" cy="6309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Solution Architecture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114800"/>
            <a:ext cx="10911535" cy="5943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187952"/>
            <a:ext cx="420624" cy="420624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187952"/>
            <a:ext cx="420624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142232"/>
            <a:ext cx="9601200" cy="6309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Step-by-Step Implementation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800600"/>
            <a:ext cx="10911535" cy="5943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" y="4873752"/>
            <a:ext cx="420624" cy="420624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873752"/>
            <a:ext cx="420624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828032"/>
            <a:ext cx="9601200" cy="6309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Application Walkthrough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486400"/>
            <a:ext cx="10911535" cy="5943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8680" y="5559552"/>
            <a:ext cx="420624" cy="420624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559552"/>
            <a:ext cx="420624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513832"/>
            <a:ext cx="9601200" cy="6309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Conclusion &amp; Next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Compliance AI Analysis POC | Confidential   ·   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THE 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Background: Compliance Is a Manual, Costly Burden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1554480"/>
            <a:ext cx="4572000" cy="438912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23160" y="3246120"/>
            <a:ext cx="1097280" cy="109728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3246120"/>
            <a:ext cx="1097280" cy="10972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5000"/>
              </a:lnSpc>
            </a:pPr>
            <a:r>
              <a:rPr sz="39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645920"/>
            <a:ext cx="5669280" cy="8229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6440" y="1792224"/>
            <a:ext cx="457200" cy="4572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1792224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19072"/>
            <a:ext cx="448056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Banks must comply with multiple, overlapping regulations: privacy laws (UU PDP / GDPR), regulator circulars (PBI / PADG / POJK), and internal policies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2697480"/>
            <a:ext cx="5669280" cy="8229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06440" y="2843784"/>
            <a:ext cx="457200" cy="457200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843784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70632"/>
            <a:ext cx="448056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Each regulation is hundreds of pages of unstructured PDF / DOCX 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3749040"/>
            <a:ext cx="5669280" cy="8229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06440" y="3895344"/>
            <a:ext cx="457200" cy="45720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3895344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22192"/>
            <a:ext cx="448056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Compliance teams manually map every rule to dozens of source tables and hundreds of columns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4800600"/>
            <a:ext cx="5669280" cy="8229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806440" y="4946904"/>
            <a:ext cx="457200" cy="457200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4946904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73752"/>
            <a:ext cx="448056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Cycle time to answer 'are we compliant?' = weeks to months per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Compliance AI Analysis POC | Confidential   ·   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The Hidden Cost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1645920"/>
            <a:ext cx="3657600" cy="4206240"/>
          </a:xfrm>
          <a:prstGeom prst="round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48840" y="2011680"/>
            <a:ext cx="868680" cy="86868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0116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4000"/>
              </a:lnSpc>
            </a:pPr>
            <a:r>
              <a:rPr sz="31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292608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4200" b="1" i="0">
                <a:solidFill>
                  <a:srgbClr val="FFFFFF"/>
                </a:solidFill>
                <a:latin typeface="Calibri Light"/>
              </a:rPr>
              <a:t>10x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14800"/>
            <a:ext cx="292608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71D3DC"/>
                </a:solidFill>
                <a:latin typeface="Segoe UI"/>
              </a:rPr>
              <a:t>Business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/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160020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1764792"/>
            <a:ext cx="502920" cy="50292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176479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70992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3+ regulation sources to cross-check (privacy law · regulator · internal policy)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60020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73952" y="1764792"/>
            <a:ext cx="502920" cy="502920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176479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170992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100+ tables and columns to classify per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92608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6112" y="3090672"/>
            <a:ext cx="502920" cy="50292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09067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03580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Manual gap analysis cannot keep up with new regulator circulars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Compliance AI Analysis POC | Confidential   ·   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POC OBJECTIVES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What This POC Aims to Prove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50876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Automate parsing of regulatory PDFs and internal policy DOCX files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Use AI to classify every column for PII / financial / risk attributes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Run gap analysis across 4 use cases on demand, not once a quarter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Detect cross-coverage gaps between internal policy and regulator rules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Deliver insights to compliance officers via a self-service dashboard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Build everything natively in Snowflake — no data movement, no extra ML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Compliance AI Analysis POC | Confidential   ·   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Four Use Cases Covered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08760"/>
            <a:ext cx="2522143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2522143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1783080"/>
            <a:ext cx="530352" cy="530352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837944"/>
            <a:ext cx="1470583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UC1 — Privacy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468880"/>
            <a:ext cx="2156383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06040"/>
            <a:ext cx="2156383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29B5E8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PII columns vs privacy regulation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29B5E8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Encryption · masking · retention · consent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6543" y="1508760"/>
            <a:ext cx="2522143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36543" y="1508760"/>
            <a:ext cx="2522143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5999" y="1783080"/>
            <a:ext cx="530352" cy="53035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5999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7791" y="1837944"/>
            <a:ext cx="1470583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UC2 — Internal Policy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19423" y="2468880"/>
            <a:ext cx="2156383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19423" y="2606040"/>
            <a:ext cx="2156383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11567F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Transactions vs internal bank policy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11567F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Operational controls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6" y="1508760"/>
            <a:ext cx="2522143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006" y="1508760"/>
            <a:ext cx="2522143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52462" y="1783080"/>
            <a:ext cx="530352" cy="530352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2462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4254" y="1837944"/>
            <a:ext cx="1470583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UC3 — Regulator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15886" y="2468880"/>
            <a:ext cx="2156383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15886" y="2606040"/>
            <a:ext cx="2156383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71D3DC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Transactions vs regulator circulars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71D3DC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PBI / PADG / POJK compliance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9469" y="1508760"/>
            <a:ext cx="2522143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29469" y="1508760"/>
            <a:ext cx="2522143" cy="54864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48925" y="1783080"/>
            <a:ext cx="530352" cy="530352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48925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0717" y="1837944"/>
            <a:ext cx="1470583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UC4 — Cross-check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12349" y="2468880"/>
            <a:ext cx="2156383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212349" y="2606040"/>
            <a:ext cx="2156383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FF9F36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Internal policy vs regulator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FF9F36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Find coverage gaps &amp; duplications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Compliance AI Analysis POC | Confidential   ·   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THE SOLUTION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Why Snowflake — Built-In AI for Compliance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160020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8-Point Star 8"/>
          <p:cNvSpPr/>
          <p:nvPr/>
        </p:nvSpPr>
        <p:spPr>
          <a:xfrm>
            <a:off x="896112" y="1764792"/>
            <a:ext cx="502920" cy="502920"/>
          </a:xfrm>
          <a:prstGeom prst="star8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6479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70992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Cortex AISQL with claude-opus-4-7 — large-context reasoning over rule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0020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73952" y="1764792"/>
            <a:ext cx="502920" cy="502920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6479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70992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PARSE_DOCUMENT — native PDF &amp; DOCX text extraction, no third-party OCR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3090672"/>
            <a:ext cx="502920" cy="50292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09067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03580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Cortex Search — RAG over regulation text for citation-grade answers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92608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73952" y="3090672"/>
            <a:ext cx="502920" cy="502920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09067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03580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Stored Procedures — make every step idempotent and re-runnable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5196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8-Point Star 24"/>
          <p:cNvSpPr/>
          <p:nvPr/>
        </p:nvSpPr>
        <p:spPr>
          <a:xfrm>
            <a:off x="896112" y="4416552"/>
            <a:ext cx="502920" cy="502920"/>
          </a:xfrm>
          <a:prstGeom prst="star8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41655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36168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Streamlit-in-Snowflake — embedded UI, no separate web app to host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25196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6473952" y="4416552"/>
            <a:ext cx="502920" cy="502920"/>
          </a:xfrm>
          <a:prstGeom prst="hexagon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441655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36168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Horizon governance — RBAC, masking and tagging on the same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Compliance AI Analysis POC | Confidential   ·   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Snowflake Features Used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08760"/>
            <a:ext cx="3454298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3454298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8-Point Star 9"/>
          <p:cNvSpPr/>
          <p:nvPr/>
        </p:nvSpPr>
        <p:spPr>
          <a:xfrm>
            <a:off x="859536" y="1783080"/>
            <a:ext cx="530352" cy="530352"/>
          </a:xfrm>
          <a:prstGeom prst="star8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837944"/>
            <a:ext cx="2402738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Document AI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468880"/>
            <a:ext cx="3088538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06040"/>
            <a:ext cx="3088538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29B5E8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PARSE_DOCUMENT (PDF + DOCX)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29B5E8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LAYOUT mode preserves structure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29B5E8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Native to the warehouse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8698" y="1508760"/>
            <a:ext cx="3454298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8698" y="1508760"/>
            <a:ext cx="3454298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8-Point Star 16"/>
          <p:cNvSpPr/>
          <p:nvPr/>
        </p:nvSpPr>
        <p:spPr>
          <a:xfrm>
            <a:off x="4588154" y="1783080"/>
            <a:ext cx="530352" cy="530352"/>
          </a:xfrm>
          <a:prstGeom prst="star8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8154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9946" y="1837944"/>
            <a:ext cx="2402738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Cortex AISQL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51578" y="2468880"/>
            <a:ext cx="3088538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51578" y="2606040"/>
            <a:ext cx="3088538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11567F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claude-opus-4-7 model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11567F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Column classification at scale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11567F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JSON-structured rule reasoning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1508760"/>
            <a:ext cx="3454298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7316" y="1508760"/>
            <a:ext cx="3454298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16772" y="1783080"/>
            <a:ext cx="530352" cy="530352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6772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8564" y="1837944"/>
            <a:ext cx="2402738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Cortex Search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80196" y="2468880"/>
            <a:ext cx="3088538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80196" y="2606040"/>
            <a:ext cx="3088538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71D3DC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RAG over regulation chunks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71D3DC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Citation tracking for auditors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71D3DC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Hybrid keyword + semantic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Compliance AI Analysis POC | Confidential   ·   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What Cortex Delivers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2522143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8-Point Star 9"/>
          <p:cNvSpPr/>
          <p:nvPr/>
        </p:nvSpPr>
        <p:spPr>
          <a:xfrm>
            <a:off x="1581111" y="1965960"/>
            <a:ext cx="640080" cy="640080"/>
          </a:xfrm>
          <a:prstGeom prst="star8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81111" y="196596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2156383" cy="10972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5400"/>
              </a:lnSpc>
            </a:pPr>
            <a:r>
              <a:rPr sz="4200" b="1" i="0">
                <a:solidFill>
                  <a:srgbClr val="29B5E8"/>
                </a:solidFill>
                <a:latin typeface="Calibri Light"/>
              </a:rPr>
              <a:t>146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5840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Columns classified by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6543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36543" y="1554480"/>
            <a:ext cx="2522143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7574" y="1965960"/>
            <a:ext cx="640080" cy="640080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7574" y="196596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423" y="2788920"/>
            <a:ext cx="2156383" cy="10972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5400"/>
              </a:lnSpc>
            </a:pPr>
            <a:r>
              <a:rPr sz="4200" b="1" i="0">
                <a:solidFill>
                  <a:srgbClr val="11567F"/>
                </a:solidFill>
                <a:latin typeface="Calibri Light"/>
              </a:rPr>
              <a:t>71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02303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19423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Regulation rules indexed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6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006" y="1554480"/>
            <a:ext cx="2522143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74037" y="1965960"/>
            <a:ext cx="640080" cy="64008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4037" y="196596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6" y="2788920"/>
            <a:ext cx="2156383" cy="10972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5400"/>
              </a:lnSpc>
            </a:pPr>
            <a:r>
              <a:rPr sz="4200" b="1" i="0">
                <a:solidFill>
                  <a:srgbClr val="71D3DC"/>
                </a:solidFill>
                <a:latin typeface="Calibri Light"/>
              </a:rPr>
              <a:t>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98766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15886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Gap-analysis use cases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9469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29469" y="1554480"/>
            <a:ext cx="2522143" cy="54864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70500" y="1965960"/>
            <a:ext cx="640080" cy="640080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70500" y="196596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2349" y="2788920"/>
            <a:ext cx="2156383" cy="10972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5400"/>
              </a:lnSpc>
            </a:pPr>
            <a:r>
              <a:rPr sz="4200" b="1" i="0">
                <a:solidFill>
                  <a:srgbClr val="FF9F36"/>
                </a:solidFill>
                <a:latin typeface="Calibri Light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95229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212349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Click to refresh end-to-end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Compliance AI Analysis POC | Confidential   ·   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7" y="228600"/>
            <a:ext cx="11379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0080"/>
            <a:ext cx="73152" cy="4572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0292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800" b="1" i="0">
                <a:solidFill>
                  <a:srgbClr val="1B2A3D"/>
                </a:solidFill>
                <a:latin typeface="Calibri Light"/>
              </a:rPr>
              <a:t>Solution Architecture — Components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484778" cy="221742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73152" cy="22174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755648"/>
            <a:ext cx="384048" cy="384048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55648"/>
            <a:ext cx="38404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Calibri Ligh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37360"/>
            <a:ext cx="2524658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1B2A3D"/>
                </a:solidFill>
                <a:latin typeface="Calibri Light"/>
              </a:rPr>
              <a:t>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3027578" cy="12573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2C3E50"/>
                </a:solidFill>
                <a:latin typeface="Segoe UI"/>
              </a:rPr>
              <a:t>Privacy regulation PDFs, internal policy DOCX, regulator circulars, sample transaction CSVs.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3458" y="1554480"/>
            <a:ext cx="3484778" cy="221742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3458" y="1554480"/>
            <a:ext cx="73152" cy="221742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82058" y="1755648"/>
            <a:ext cx="384048" cy="384048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2058" y="1755648"/>
            <a:ext cx="38404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Calibri Ligh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0698" y="1737360"/>
            <a:ext cx="2524658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1B2A3D"/>
                </a:solidFill>
                <a:latin typeface="Calibri Light"/>
              </a:rPr>
              <a:t>Stage &amp; Parse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7778" y="2331720"/>
            <a:ext cx="3027578" cy="12573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2C3E50"/>
                </a:solidFill>
                <a:latin typeface="Segoe UI"/>
              </a:rPr>
              <a:t>Internal stage stores raw documents; PARSE_DOCUMENT extracts text from PDF + DOCX in one call.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6836" y="1554480"/>
            <a:ext cx="3484778" cy="221742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6836" y="1554480"/>
            <a:ext cx="73152" cy="2217420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95436" y="1755648"/>
            <a:ext cx="384048" cy="384048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5436" y="1755648"/>
            <a:ext cx="38404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Calibri Ligh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4076" y="1737360"/>
            <a:ext cx="2524658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1B2A3D"/>
                </a:solidFill>
                <a:latin typeface="Calibri Light"/>
              </a:rPr>
              <a:t>AI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1156" y="2331720"/>
            <a:ext cx="3027578" cy="12573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2C3E50"/>
                </a:solidFill>
                <a:latin typeface="Segoe UI"/>
              </a:rPr>
              <a:t>Cortex AISQL (claude-opus-4-7) classifies columns and runs gap analysis. Cortex Search powers RAG.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000500"/>
            <a:ext cx="3484778" cy="221742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000500"/>
            <a:ext cx="73152" cy="2217420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4201668"/>
            <a:ext cx="384048" cy="384048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201668"/>
            <a:ext cx="38404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Calibri Light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183380"/>
            <a:ext cx="2524658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1B2A3D"/>
                </a:solidFill>
                <a:latin typeface="Calibri Light"/>
              </a:rPr>
              <a:t>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777740"/>
            <a:ext cx="3027578" cy="12573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2C3E50"/>
                </a:solidFill>
                <a:latin typeface="Segoe UI"/>
              </a:rPr>
              <a:t>One database, four schemas (Customer, Transaction, Docs, Results) holding inputs and AI outputs.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3458" y="4000500"/>
            <a:ext cx="3484778" cy="221742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53458" y="4000500"/>
            <a:ext cx="73152" cy="22174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82058" y="4201668"/>
            <a:ext cx="384048" cy="38404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82058" y="4201668"/>
            <a:ext cx="38404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Calibri Light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0698" y="4183380"/>
            <a:ext cx="2524658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1B2A3D"/>
                </a:solidFill>
                <a:latin typeface="Calibri Light"/>
              </a:rPr>
              <a:t>Stored Procedures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7778" y="4777740"/>
            <a:ext cx="3027578" cy="12573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2C3E50"/>
                </a:solidFill>
                <a:latin typeface="Segoe UI"/>
              </a:rPr>
              <a:t>Five idempotent SPs (classification + UC1 / UC2 / UC3 / UC4) called by the dashboard's refresh button.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6836" y="4000500"/>
            <a:ext cx="3484778" cy="221742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66836" y="4000500"/>
            <a:ext cx="73152" cy="22174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95436" y="4201668"/>
            <a:ext cx="384048" cy="384048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5436" y="4201668"/>
            <a:ext cx="38404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Calibri Light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44076" y="4183380"/>
            <a:ext cx="2524658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1B2A3D"/>
                </a:solidFill>
                <a:latin typeface="Calibri Light"/>
              </a:rPr>
              <a:t>Streamlit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1156" y="4777740"/>
            <a:ext cx="3027578" cy="12573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2C3E50"/>
                </a:solidFill>
                <a:latin typeface="Segoe UI"/>
              </a:rPr>
              <a:t>Sidebar menu, five tabs per use case, executive summary, refresh-on-demand.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IMPLEMENTATION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Step-by-Step Build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hevron 7"/>
          <p:cNvSpPr/>
          <p:nvPr/>
        </p:nvSpPr>
        <p:spPr>
          <a:xfrm>
            <a:off x="777240" y="2331720"/>
            <a:ext cx="1989734" cy="1371600"/>
          </a:xfrm>
          <a:prstGeom prst="chevron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660904"/>
            <a:ext cx="166055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Create database, warehouse, schemas, and source tables (synthetic data)</a:t>
            </a:r>
          </a:p>
        </p:txBody>
      </p:sp>
      <p:sp>
        <p:nvSpPr>
          <p:cNvPr id="10" name="Chevron 9"/>
          <p:cNvSpPr/>
          <p:nvPr/>
        </p:nvSpPr>
        <p:spPr>
          <a:xfrm>
            <a:off x="2931566" y="2331720"/>
            <a:ext cx="1989734" cy="1371600"/>
          </a:xfrm>
          <a:prstGeom prst="chevron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6158" y="2660904"/>
            <a:ext cx="166055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Upload regulation PDFs / DOCX to an internal Snowflake stage</a:t>
            </a:r>
          </a:p>
        </p:txBody>
      </p:sp>
      <p:sp>
        <p:nvSpPr>
          <p:cNvPr id="12" name="Chevron 11"/>
          <p:cNvSpPr/>
          <p:nvPr/>
        </p:nvSpPr>
        <p:spPr>
          <a:xfrm>
            <a:off x="5085892" y="2331720"/>
            <a:ext cx="1989734" cy="1371600"/>
          </a:xfrm>
          <a:prstGeom prst="chevron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0484" y="2660904"/>
            <a:ext cx="166055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Parse documents to text with SNOWFLAKE.CORTEX.PARSE_DOCUMENT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7240218" y="2331720"/>
            <a:ext cx="1989734" cy="1371600"/>
          </a:xfrm>
          <a:prstGeom prst="chevron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4810" y="2660904"/>
            <a:ext cx="166055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Seed REGULATIONS table with rule rows tagged by source</a:t>
            </a:r>
          </a:p>
        </p:txBody>
      </p:sp>
      <p:sp>
        <p:nvSpPr>
          <p:cNvPr id="16" name="Chevron 15"/>
          <p:cNvSpPr/>
          <p:nvPr/>
        </p:nvSpPr>
        <p:spPr>
          <a:xfrm>
            <a:off x="9394544" y="2331720"/>
            <a:ext cx="1989734" cy="1371600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9136" y="2660904"/>
            <a:ext cx="166055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Run AI column classification (PII / risk / masking flags)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Compliance AI Analysis POC | Confidential   ·   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Refresh Pattern — Always Current Compliance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318607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1783080"/>
            <a:ext cx="530352" cy="530352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837944"/>
            <a:ext cx="426704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Without SPs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Analyst reruns scripts manually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No traceable lineage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Risk of partial / inconsistent 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508760"/>
            <a:ext cx="5318607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52463" y="1783080"/>
            <a:ext cx="530352" cy="53035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2463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4255" y="1837944"/>
            <a:ext cx="426704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With SP_REFRESH_*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15887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5887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One click recomputes results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Idempotent — safe to rerun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Triggered from dashboard or scheduled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Compliance AI Analysis POC | Confidential   ·   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WHAT IT LOOKS LIKE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Streamlit Dashboard — Sidebar Menu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1554480"/>
            <a:ext cx="4572000" cy="438912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8-Point Star 8"/>
          <p:cNvSpPr/>
          <p:nvPr/>
        </p:nvSpPr>
        <p:spPr>
          <a:xfrm>
            <a:off x="2423160" y="3246120"/>
            <a:ext cx="1097280" cy="1097280"/>
          </a:xfrm>
          <a:prstGeom prst="star8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3246120"/>
            <a:ext cx="1097280" cy="10972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5000"/>
              </a:lnSpc>
            </a:pPr>
            <a:r>
              <a:rPr sz="3900" b="1" i="0">
                <a:solidFill>
                  <a:srgbClr val="FFFFFF"/>
                </a:solidFill>
                <a:latin typeface="Segoe UI"/>
              </a:rPr>
              <a:t>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645920"/>
            <a:ext cx="5669280" cy="8229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6440" y="1792224"/>
            <a:ext cx="457200" cy="4572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1792224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19072"/>
            <a:ext cx="448056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Sidebar navigation with 5 menu options: Summary · UC1 · UC2 · UC3 · UC4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2697480"/>
            <a:ext cx="5669280" cy="8229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06440" y="2843784"/>
            <a:ext cx="457200" cy="457200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843784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70632"/>
            <a:ext cx="448056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Brand-themed colors and logo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3749040"/>
            <a:ext cx="5669280" cy="8229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06440" y="3895344"/>
            <a:ext cx="457200" cy="45720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3895344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22192"/>
            <a:ext cx="448056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Refresh button per use case calls the matching stored procedure live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4800600"/>
            <a:ext cx="5669280" cy="8229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8-Point Star 23"/>
          <p:cNvSpPr/>
          <p:nvPr/>
        </p:nvSpPr>
        <p:spPr>
          <a:xfrm>
            <a:off x="5806440" y="4946904"/>
            <a:ext cx="457200" cy="457200"/>
          </a:xfrm>
          <a:prstGeom prst="star8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4946904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73752"/>
            <a:ext cx="448056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Built entirely with Streamlit-in-Snowflake — no external hosting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Compliance AI Analysis POC | Confidential   ·   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Per Use Case — Five Tabs of Insight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160020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96112" y="1764792"/>
            <a:ext cx="502920" cy="502920"/>
          </a:xfrm>
          <a:prstGeom prst="hexagon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6479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70992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Overview — KPIs and risk counts (Compliant / Gap / Partial)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0020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73952" y="1764792"/>
            <a:ext cx="502920" cy="502920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6479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70992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Rule Coverage — every rule mapped to its compliance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896112" y="3090672"/>
            <a:ext cx="502920" cy="502920"/>
          </a:xfrm>
          <a:prstGeom prst="hexagon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09067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03580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Column Heatmap — AI-classified columns with risk severity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92608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8-Point Star 20"/>
          <p:cNvSpPr/>
          <p:nvPr/>
        </p:nvSpPr>
        <p:spPr>
          <a:xfrm>
            <a:off x="6473952" y="3090672"/>
            <a:ext cx="502920" cy="502920"/>
          </a:xfrm>
          <a:prstGeom prst="star8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09067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03580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Action Plan — AI-generated remediation steps, prioritized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5196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8-Point Star 24"/>
          <p:cNvSpPr/>
          <p:nvPr/>
        </p:nvSpPr>
        <p:spPr>
          <a:xfrm>
            <a:off x="896112" y="4416552"/>
            <a:ext cx="502920" cy="502920"/>
          </a:xfrm>
          <a:prstGeom prst="star8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41655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36168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Raw Findings — full audit trail with reasoning text from claude-opus-4-7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Compliance AI Analysis POC | Confidential   ·   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From Months to Minutes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1645920"/>
            <a:ext cx="3657600" cy="4206240"/>
          </a:xfrm>
          <a:prstGeom prst="round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48840" y="2011680"/>
            <a:ext cx="868680" cy="86868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0116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4000"/>
              </a:lnSpc>
            </a:pPr>
            <a:r>
              <a:rPr sz="31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292608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4200" b="1" i="0">
                <a:solidFill>
                  <a:srgbClr val="FFFFFF"/>
                </a:solidFill>
                <a:latin typeface="Calibri Light"/>
              </a:rPr>
              <a:t>10x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14800"/>
            <a:ext cx="292608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71D3DC"/>
                </a:solidFill>
                <a:latin typeface="Segoe UI"/>
              </a:rPr>
              <a:t>Business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/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160020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ube 16"/>
          <p:cNvSpPr/>
          <p:nvPr/>
        </p:nvSpPr>
        <p:spPr>
          <a:xfrm>
            <a:off x="896112" y="1764792"/>
            <a:ext cx="502920" cy="502920"/>
          </a:xfrm>
          <a:prstGeom prst="cub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176479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70992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No data movement, no batch ETL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60020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8-Point Star 20"/>
          <p:cNvSpPr/>
          <p:nvPr/>
        </p:nvSpPr>
        <p:spPr>
          <a:xfrm>
            <a:off x="6473952" y="1764792"/>
            <a:ext cx="502920" cy="502920"/>
          </a:xfrm>
          <a:prstGeom prst="star8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176479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170992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Auditor-ready evidence with AI reasoning preserved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92608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6112" y="3090672"/>
            <a:ext cx="502920" cy="50292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09067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03580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Re-runnable as regulations evolve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Compliance AI Analysis POC | Confidential   ·   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CONCLUSION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Conclusion — Compliance as a Continuous Capability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3840480" cy="4480560"/>
          </a:xfrm>
          <a:prstGeom prst="round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1" i="0">
                <a:solidFill>
                  <a:srgbClr val="71D3DC"/>
                </a:solidFill>
                <a:latin typeface="Segoe UI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329184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71D3DC"/>
                </a:solidFill>
                <a:latin typeface="Segoe UI"/>
              </a:rPr>
              <a:t>●  </a:t>
            </a:r>
            <a:r>
              <a:rPr sz="1500">
                <a:solidFill>
                  <a:srgbClr val="FFFFFF"/>
                </a:solidFill>
                <a:latin typeface="Segoe UI"/>
              </a:rPr>
              <a:t>Snowflake Cortex turned a multi-week manual review into a one-click refresh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71D3DC"/>
                </a:solidFill>
                <a:latin typeface="Segoe UI"/>
              </a:rPr>
              <a:t>●  </a:t>
            </a:r>
            <a:r>
              <a:rPr sz="1500">
                <a:solidFill>
                  <a:srgbClr val="FFFFFF"/>
                </a:solidFill>
                <a:latin typeface="Segoe UI"/>
              </a:rPr>
              <a:t>Four use cases (privacy · internal · regulator · cross-coverage) covered end-to-end on a single platform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71D3DC"/>
                </a:solidFill>
                <a:latin typeface="Segoe UI"/>
              </a:rPr>
              <a:t>●  </a:t>
            </a:r>
            <a:r>
              <a:rPr sz="1500">
                <a:solidFill>
                  <a:srgbClr val="FFFFFF"/>
                </a:solidFill>
                <a:latin typeface="Segoe UI"/>
              </a:rPr>
              <a:t>PARSE_DOCUMENT + claude-opus-4-7 removed the need for external OCR or LLM stacks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71D3DC"/>
                </a:solidFill>
                <a:latin typeface="Segoe UI"/>
              </a:rPr>
              <a:t>●  </a:t>
            </a:r>
            <a:r>
              <a:rPr sz="1500">
                <a:solidFill>
                  <a:srgbClr val="FFFFFF"/>
                </a:solidFill>
                <a:latin typeface="Segoe UI"/>
              </a:rPr>
              <a:t>Stored procedures + Streamlit-in-Snowflake make compliance self-service for officers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71D3DC"/>
                </a:solidFill>
                <a:latin typeface="Segoe UI"/>
              </a:rPr>
              <a:t>●  </a:t>
            </a:r>
            <a:r>
              <a:rPr sz="1500">
                <a:solidFill>
                  <a:srgbClr val="FFFFFF"/>
                </a:solidFill>
                <a:latin typeface="Segoe UI"/>
              </a:rPr>
              <a:t>Pattern is reusable across other regulations (PCI-DSS, ISO 27001, SOX) and other industries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554480"/>
            <a:ext cx="6675120" cy="44805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12080" y="1920240"/>
            <a:ext cx="640080" cy="64008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92024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901952"/>
            <a:ext cx="182880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2C3E50"/>
                </a:solidFill>
                <a:latin typeface="Segoe UI"/>
              </a:rPr>
              <a:t>Snowflake Cortex turned a multi-week manual review into a one-click refresh</a:t>
            </a:r>
          </a:p>
        </p:txBody>
      </p:sp>
      <p:sp>
        <p:nvSpPr>
          <p:cNvPr id="15" name="Cloud 14"/>
          <p:cNvSpPr/>
          <p:nvPr/>
        </p:nvSpPr>
        <p:spPr>
          <a:xfrm>
            <a:off x="8321040" y="1920240"/>
            <a:ext cx="640080" cy="640080"/>
          </a:xfrm>
          <a:prstGeom prst="cloud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901952"/>
            <a:ext cx="182880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2C3E50"/>
                </a:solidFill>
                <a:latin typeface="Segoe UI"/>
              </a:rPr>
              <a:t>Four use cases (privacy · internal · regulator · cross-coverage) covered end-to-end on a single platform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3566160"/>
            <a:ext cx="640080" cy="64008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56616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547872"/>
            <a:ext cx="182880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2C3E50"/>
                </a:solidFill>
                <a:latin typeface="Segoe UI"/>
              </a:rPr>
              <a:t>PARSE_DOCUMENT + claude-opus-4-7 removed the need for external OCR or LLM stacks</a:t>
            </a:r>
          </a:p>
        </p:txBody>
      </p:sp>
      <p:sp>
        <p:nvSpPr>
          <p:cNvPr id="21" name="8-Point Star 20"/>
          <p:cNvSpPr/>
          <p:nvPr/>
        </p:nvSpPr>
        <p:spPr>
          <a:xfrm>
            <a:off x="8321040" y="3566160"/>
            <a:ext cx="640080" cy="640080"/>
          </a:xfrm>
          <a:prstGeom prst="star8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56616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547872"/>
            <a:ext cx="182880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2C3E50"/>
                </a:solidFill>
                <a:latin typeface="Segoe UI"/>
              </a:rPr>
              <a:t>Stored procedures + Streamlit-in-Snowflake make compliance self-service for officers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Compliance AI Analysis POC | Confidential   ·   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Recommended Next Steps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08760"/>
            <a:ext cx="3454298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3454298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1783080"/>
            <a:ext cx="530352" cy="530352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837944"/>
            <a:ext cx="2402738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Productionize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468880"/>
            <a:ext cx="3088538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06040"/>
            <a:ext cx="3088538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29B5E8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Schedule SP refresh via Tasks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29B5E8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Add row access policies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29B5E8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Plug into Horizon catalog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8698" y="1508760"/>
            <a:ext cx="3454298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8698" y="1508760"/>
            <a:ext cx="3454298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88154" y="1783080"/>
            <a:ext cx="530352" cy="53035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8154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9946" y="1837944"/>
            <a:ext cx="2402738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Expand Coverage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51578" y="2468880"/>
            <a:ext cx="3088538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51578" y="2606040"/>
            <a:ext cx="3088538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11567F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Onboard more regulations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11567F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Cover credit, AML, KYC domains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11567F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Add a Cortex Agent for chat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1508760"/>
            <a:ext cx="3454298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7316" y="1508760"/>
            <a:ext cx="3454298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ear 6 23"/>
          <p:cNvSpPr/>
          <p:nvPr/>
        </p:nvSpPr>
        <p:spPr>
          <a:xfrm>
            <a:off x="8316772" y="1783080"/>
            <a:ext cx="530352" cy="530352"/>
          </a:xfrm>
          <a:prstGeom prst="gear6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6772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8564" y="1837944"/>
            <a:ext cx="2402738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Operationalize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80196" y="2468880"/>
            <a:ext cx="3088538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80196" y="2606040"/>
            <a:ext cx="3088538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71D3DC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Wire alerts to compliance team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71D3DC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Track gap closure over time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71D3DC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Audit-ready evidence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Compliance AI Analysis POC | Confidential   ·   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gradFill rotWithShape="1">
            <a:gsLst>
              <a:gs pos="0">
                <a:srgbClr val="71D3DC"/>
              </a:gs>
              <a:gs pos="100000">
                <a:srgbClr val="29B5E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188720"/>
            <a:ext cx="1197904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926080"/>
            <a:ext cx="1051560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sz="60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sz="2000" b="0" i="0">
                <a:solidFill>
                  <a:srgbClr val="71D3DC"/>
                </a:solidFill>
                <a:latin typeface="Segoe U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